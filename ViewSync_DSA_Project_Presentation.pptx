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0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530352"/>
            <a:ext cx="329184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Video Network Syndication Mesh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ViewSync  —  DSA Project Presentation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2025-29  |  Data Structures &amp; Algorithms with CPP  |  Semester II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4805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105156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 Problem Statement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 Your Solution — 8 DSA Modules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 Working — Method &amp; Data Flow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 Conclusion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Slides (excluding Thank-you and Introduction slide) should not be more than 4.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4805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84048" y="84124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ViewSync's old system suffered from multiple failures: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84048" y="1298448"/>
            <a:ext cx="4160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difficult to organise &amp; 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state changes cannot be undone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tasks executed in random order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lookup is too slow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route optimisation for delivery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load not distributed fairly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36592" y="713232"/>
            <a:ext cx="4133088" cy="3547872"/>
          </a:xfrm>
          <a:prstGeom prst="roundRect">
            <a:avLst>
              <a:gd name="adj" fmla="val 3093"/>
            </a:avLst>
          </a:prstGeom>
          <a:solidFill>
            <a:srgbClr val="A0174F"/>
          </a:solidFill>
          <a:ln/>
        </p:spPr>
      </p:sp>
      <p:sp>
        <p:nvSpPr>
          <p:cNvPr id="7" name="Text 4"/>
          <p:cNvSpPr/>
          <p:nvPr/>
        </p:nvSpPr>
        <p:spPr>
          <a:xfrm>
            <a:off x="4919472" y="8229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System Needs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19472" y="1298448"/>
            <a:ext cx="3749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video catalog classification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viewing state rollback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profile processing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publisher license lookup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clips by user retention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licensing platform map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cost content delivery path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encoding cluster optimisation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4805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128016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Solution — 8 DSA Modules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74320" y="804672"/>
            <a:ext cx="4279392" cy="914400"/>
          </a:xfrm>
          <a:prstGeom prst="roundRect">
            <a:avLst>
              <a:gd name="adj" fmla="val 9000"/>
            </a:avLst>
          </a:prstGeom>
          <a:solidFill>
            <a:srgbClr val="FDF5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84048" y="1024128"/>
            <a:ext cx="402336" cy="402336"/>
          </a:xfrm>
          <a:prstGeom prst="ellipse">
            <a:avLst/>
          </a:prstGeom>
          <a:solidFill>
            <a:srgbClr val="A0174F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024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77824" y="8595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Directory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" y="12070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 Map + Vector  ·  Search videos fast by genre, category or tag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45152" y="804672"/>
            <a:ext cx="4279392" cy="914400"/>
          </a:xfrm>
          <a:prstGeom prst="roundRect">
            <a:avLst>
              <a:gd name="adj" fmla="val 9000"/>
            </a:avLst>
          </a:prstGeom>
          <a:solidFill>
            <a:srgbClr val="FDF5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24128"/>
            <a:ext cx="402336" cy="402336"/>
          </a:xfrm>
          <a:prstGeom prst="ellipse">
            <a:avLst/>
          </a:prstGeom>
          <a:solidFill>
            <a:srgbClr val="A0174F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024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48656" y="8595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Log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48656" y="12070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+ Map  ·  Undo last viewing-state change  (like Ctrl+Z)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1792224"/>
            <a:ext cx="4279392" cy="914400"/>
          </a:xfrm>
          <a:prstGeom prst="roundRect">
            <a:avLst>
              <a:gd name="adj" fmla="val 9000"/>
            </a:avLst>
          </a:prstGeom>
          <a:solidFill>
            <a:srgbClr val="FDF5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84048" y="2011680"/>
            <a:ext cx="402336" cy="402336"/>
          </a:xfrm>
          <a:prstGeom prst="ellipse">
            <a:avLst/>
          </a:prstGeom>
          <a:solidFill>
            <a:srgbClr val="A0174F"/>
          </a:solidFill>
          <a:ln/>
        </p:spPr>
      </p:sp>
      <p:sp>
        <p:nvSpPr>
          <p:cNvPr id="16" name="Text 13"/>
          <p:cNvSpPr/>
          <p:nvPr/>
        </p:nvSpPr>
        <p:spPr>
          <a:xfrm>
            <a:off x="384048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7824" y="18470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Pipeline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77824" y="21945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(FIFO)  ·  Process profile tasks in exact arrival order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45152" y="1792224"/>
            <a:ext cx="4279392" cy="914400"/>
          </a:xfrm>
          <a:prstGeom prst="roundRect">
            <a:avLst>
              <a:gd name="adj" fmla="val 9000"/>
            </a:avLst>
          </a:prstGeom>
          <a:solidFill>
            <a:srgbClr val="FDF5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011680"/>
            <a:ext cx="402336" cy="402336"/>
          </a:xfrm>
          <a:prstGeom prst="ellipse">
            <a:avLst/>
          </a:prstGeom>
          <a:solidFill>
            <a:srgbClr val="A0174F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48656" y="18470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Code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48656" y="21945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 Map  ·  O(1) license verification per region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2779776"/>
            <a:ext cx="4279392" cy="914400"/>
          </a:xfrm>
          <a:prstGeom prst="roundRect">
            <a:avLst>
              <a:gd name="adj" fmla="val 9000"/>
            </a:avLst>
          </a:prstGeom>
          <a:solidFill>
            <a:srgbClr val="FDF5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84048" y="2999232"/>
            <a:ext cx="402336" cy="402336"/>
          </a:xfrm>
          <a:prstGeom prst="ellipse">
            <a:avLst/>
          </a:prstGeom>
          <a:solidFill>
            <a:srgbClr val="A0174F"/>
          </a:solidFill>
          <a:ln/>
        </p:spPr>
      </p:sp>
      <p:sp>
        <p:nvSpPr>
          <p:cNvPr id="26" name="Text 23"/>
          <p:cNvSpPr/>
          <p:nvPr/>
        </p:nvSpPr>
        <p:spPr>
          <a:xfrm>
            <a:off x="38404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77824" y="28346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 Sorter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77824" y="31821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Sort (retentionMinutes)  ·  Rank clips by how long viewers actually watch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45152" y="2779776"/>
            <a:ext cx="4279392" cy="914400"/>
          </a:xfrm>
          <a:prstGeom prst="roundRect">
            <a:avLst>
              <a:gd name="adj" fmla="val 9000"/>
            </a:avLst>
          </a:prstGeom>
          <a:solidFill>
            <a:srgbClr val="FDF5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2999232"/>
            <a:ext cx="402336" cy="402336"/>
          </a:xfrm>
          <a:prstGeom prst="ellipse">
            <a:avLst/>
          </a:prstGeom>
          <a:solidFill>
            <a:srgbClr val="A0174F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88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248656" y="28346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Syndication Grid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248656" y="31821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 List (Graph)  ·  Map all platform-to-platform licence connections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74320" y="3767328"/>
            <a:ext cx="4279392" cy="914400"/>
          </a:xfrm>
          <a:prstGeom prst="roundRect">
            <a:avLst>
              <a:gd name="adj" fmla="val 9000"/>
            </a:avLst>
          </a:prstGeom>
          <a:solidFill>
            <a:srgbClr val="FDF5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84048" y="3986784"/>
            <a:ext cx="402336" cy="402336"/>
          </a:xfrm>
          <a:prstGeom prst="ellipse">
            <a:avLst/>
          </a:prstGeom>
          <a:solidFill>
            <a:srgbClr val="A0174F"/>
          </a:solidFill>
          <a:ln/>
        </p:spPr>
      </p:sp>
      <p:sp>
        <p:nvSpPr>
          <p:cNvPr id="36" name="Text 33"/>
          <p:cNvSpPr/>
          <p:nvPr/>
        </p:nvSpPr>
        <p:spPr>
          <a:xfrm>
            <a:off x="384048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77824" y="3822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Transport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77824" y="41696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+ Priority Queue  ·  Cheapest route: Rights Holder → User Device (cost 25)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645152" y="3767328"/>
            <a:ext cx="4279392" cy="914400"/>
          </a:xfrm>
          <a:prstGeom prst="roundRect">
            <a:avLst>
              <a:gd name="adj" fmla="val 9000"/>
            </a:avLst>
          </a:prstGeom>
          <a:solidFill>
            <a:srgbClr val="FDF5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54880" y="3986784"/>
            <a:ext cx="402336" cy="402336"/>
          </a:xfrm>
          <a:prstGeom prst="ellipse">
            <a:avLst/>
          </a:prstGeom>
          <a:solidFill>
            <a:srgbClr val="A0174F"/>
          </a:solidFill>
          <a:ln/>
        </p:spPr>
      </p:sp>
      <p:sp>
        <p:nvSpPr>
          <p:cNvPr id="41" name="Text 38"/>
          <p:cNvSpPr/>
          <p:nvPr/>
        </p:nvSpPr>
        <p:spPr>
          <a:xfrm>
            <a:off x="475488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248656" y="3822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Splitter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248656" y="41696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Min-Heap Priority Queue  ·  Assign frames to least-loaded processor first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4805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— ViewSync User Journey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74320" y="868680"/>
            <a:ext cx="1920240" cy="1627632"/>
          </a:xfrm>
          <a:prstGeom prst="roundRect">
            <a:avLst>
              <a:gd name="adj" fmla="val 5618"/>
            </a:avLst>
          </a:prstGeom>
          <a:solidFill>
            <a:srgbClr val="A0174F"/>
          </a:solidFill>
          <a:ln/>
        </p:spPr>
      </p:sp>
      <p:sp>
        <p:nvSpPr>
          <p:cNvPr id="5" name="Shape 2"/>
          <p:cNvSpPr/>
          <p:nvPr/>
        </p:nvSpPr>
        <p:spPr>
          <a:xfrm>
            <a:off x="1024128" y="9601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24128" y="960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444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Movie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801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Directory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2093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E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 Map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94560" y="1673352"/>
            <a:ext cx="228600" cy="0"/>
          </a:xfrm>
          <a:prstGeom prst="line">
            <a:avLst/>
          </a:prstGeom>
          <a:noFill/>
          <a:ln w="19050">
            <a:solidFill>
              <a:srgbClr val="A017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23160" y="868680"/>
            <a:ext cx="1920240" cy="1627632"/>
          </a:xfrm>
          <a:prstGeom prst="roundRect">
            <a:avLst>
              <a:gd name="adj" fmla="val 5618"/>
            </a:avLst>
          </a:prstGeom>
          <a:solidFill>
            <a:srgbClr val="A0174F"/>
          </a:solidFill>
          <a:ln/>
        </p:spPr>
      </p:sp>
      <p:sp>
        <p:nvSpPr>
          <p:cNvPr id="12" name="Shape 9"/>
          <p:cNvSpPr/>
          <p:nvPr/>
        </p:nvSpPr>
        <p:spPr>
          <a:xfrm>
            <a:off x="3172968" y="9601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172968" y="960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14600" y="1444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Watch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14600" y="1801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Log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14600" y="2093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E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+ Map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43400" y="1673352"/>
            <a:ext cx="228600" cy="0"/>
          </a:xfrm>
          <a:prstGeom prst="line">
            <a:avLst/>
          </a:prstGeom>
          <a:noFill/>
          <a:ln w="19050">
            <a:solidFill>
              <a:srgbClr val="A017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0" y="868680"/>
            <a:ext cx="1920240" cy="1627632"/>
          </a:xfrm>
          <a:prstGeom prst="roundRect">
            <a:avLst>
              <a:gd name="adj" fmla="val 5618"/>
            </a:avLst>
          </a:prstGeom>
          <a:solidFill>
            <a:srgbClr val="A0174F"/>
          </a:solidFill>
          <a:ln/>
        </p:spPr>
      </p:sp>
      <p:sp>
        <p:nvSpPr>
          <p:cNvPr id="19" name="Shape 16"/>
          <p:cNvSpPr/>
          <p:nvPr/>
        </p:nvSpPr>
        <p:spPr>
          <a:xfrm>
            <a:off x="5321808" y="9601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321808" y="960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63440" y="1444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Tasks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63440" y="1801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Pipeline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63440" y="2093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E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(FIFO)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92240" y="1673352"/>
            <a:ext cx="228600" cy="0"/>
          </a:xfrm>
          <a:prstGeom prst="line">
            <a:avLst/>
          </a:prstGeom>
          <a:noFill/>
          <a:ln w="19050">
            <a:solidFill>
              <a:srgbClr val="A017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20840" y="868680"/>
            <a:ext cx="1920240" cy="1627632"/>
          </a:xfrm>
          <a:prstGeom prst="roundRect">
            <a:avLst>
              <a:gd name="adj" fmla="val 5618"/>
            </a:avLst>
          </a:prstGeom>
          <a:solidFill>
            <a:srgbClr val="A0174F"/>
          </a:solidFill>
          <a:ln/>
        </p:spPr>
      </p:sp>
      <p:sp>
        <p:nvSpPr>
          <p:cNvPr id="26" name="Shape 23"/>
          <p:cNvSpPr/>
          <p:nvPr/>
        </p:nvSpPr>
        <p:spPr>
          <a:xfrm>
            <a:off x="7470648" y="9601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470648" y="960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12280" y="1444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Licence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12280" y="1801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Code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12280" y="2093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E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 Map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" y="2788920"/>
            <a:ext cx="1920240" cy="1627632"/>
          </a:xfrm>
          <a:prstGeom prst="roundRect">
            <a:avLst>
              <a:gd name="adj" fmla="val 5618"/>
            </a:avLst>
          </a:prstGeom>
          <a:solidFill>
            <a:srgbClr val="A0174F"/>
          </a:solidFill>
          <a:ln/>
        </p:spPr>
      </p:sp>
      <p:sp>
        <p:nvSpPr>
          <p:cNvPr id="32" name="Shape 29"/>
          <p:cNvSpPr/>
          <p:nvPr/>
        </p:nvSpPr>
        <p:spPr>
          <a:xfrm>
            <a:off x="1024128" y="2880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1024128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65760" y="3364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Clips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6576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Sorter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6576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E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Sort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194560" y="3593592"/>
            <a:ext cx="228600" cy="0"/>
          </a:xfrm>
          <a:prstGeom prst="line">
            <a:avLst/>
          </a:prstGeom>
          <a:noFill/>
          <a:ln w="19050">
            <a:solidFill>
              <a:srgbClr val="A0174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423160" y="2788920"/>
            <a:ext cx="1920240" cy="1627632"/>
          </a:xfrm>
          <a:prstGeom prst="roundRect">
            <a:avLst>
              <a:gd name="adj" fmla="val 5618"/>
            </a:avLst>
          </a:prstGeom>
          <a:solidFill>
            <a:srgbClr val="A0174F"/>
          </a:solidFill>
          <a:ln/>
        </p:spPr>
      </p:sp>
      <p:sp>
        <p:nvSpPr>
          <p:cNvPr id="39" name="Shape 36"/>
          <p:cNvSpPr/>
          <p:nvPr/>
        </p:nvSpPr>
        <p:spPr>
          <a:xfrm>
            <a:off x="3172968" y="2880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3172968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2514600" y="3364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Network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51460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Syndication Grid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51460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E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Adj. List Graph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343400" y="3593592"/>
            <a:ext cx="228600" cy="0"/>
          </a:xfrm>
          <a:prstGeom prst="line">
            <a:avLst/>
          </a:prstGeom>
          <a:noFill/>
          <a:ln w="19050">
            <a:solidFill>
              <a:srgbClr val="A0174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72000" y="2788920"/>
            <a:ext cx="1920240" cy="1627632"/>
          </a:xfrm>
          <a:prstGeom prst="roundRect">
            <a:avLst>
              <a:gd name="adj" fmla="val 5618"/>
            </a:avLst>
          </a:prstGeom>
          <a:solidFill>
            <a:srgbClr val="A0174F"/>
          </a:solidFill>
          <a:ln/>
        </p:spPr>
      </p:sp>
      <p:sp>
        <p:nvSpPr>
          <p:cNvPr id="46" name="Shape 43"/>
          <p:cNvSpPr/>
          <p:nvPr/>
        </p:nvSpPr>
        <p:spPr>
          <a:xfrm>
            <a:off x="5321808" y="2880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5321808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4663440" y="3364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Best Route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466344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Transport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66344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E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+ PQ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492240" y="3593592"/>
            <a:ext cx="228600" cy="0"/>
          </a:xfrm>
          <a:prstGeom prst="line">
            <a:avLst/>
          </a:prstGeom>
          <a:noFill/>
          <a:ln w="19050">
            <a:solidFill>
              <a:srgbClr val="A0174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720840" y="2788920"/>
            <a:ext cx="1920240" cy="1627632"/>
          </a:xfrm>
          <a:prstGeom prst="roundRect">
            <a:avLst>
              <a:gd name="adj" fmla="val 5618"/>
            </a:avLst>
          </a:prstGeom>
          <a:solidFill>
            <a:srgbClr val="A0174F"/>
          </a:solidFill>
          <a:ln/>
        </p:spPr>
      </p:sp>
      <p:sp>
        <p:nvSpPr>
          <p:cNvPr id="53" name="Shape 50"/>
          <p:cNvSpPr/>
          <p:nvPr/>
        </p:nvSpPr>
        <p:spPr>
          <a:xfrm>
            <a:off x="7470648" y="2880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/>
          <p:nvPr/>
        </p:nvSpPr>
        <p:spPr>
          <a:xfrm>
            <a:off x="7470648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6812280" y="3364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Encoding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81228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Splitter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81228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E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Min-Heap PQ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480560"/>
            <a:ext cx="640080" cy="64008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438912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0174F"/>
                </a:solidFill>
                <a:latin typeface="Cambria" pitchFamily="34" charset="0"/>
              </a:rPr>
              <a:t>Conclusion</a:t>
            </a:r>
          </a:p>
        </p:txBody>
      </p:sp>
      <p:sp>
        <p:nvSpPr>
          <p:cNvPr id="4" name="Summary"/>
          <p:cNvSpPr/>
          <p:nvPr/>
        </p:nvSpPr>
        <p:spPr>
          <a:xfrm>
            <a:off x="438912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</a:rPr>
              <a:t>ViewSync demonstrates how 8 core Data Structures &amp; Algorithms work together to power a real-world streaming platform. Every feature — from catalog search to content delivery — is backed by deliberate DSA choices that mirror what Netflix, Disney+, and Amazon Prime use at scale.</a:t>
            </a:r>
          </a:p>
        </p:txBody>
      </p:sp>
      <p:sp>
        <p:nvSpPr>
          <p:cNvPr id="5" name="BuiltBox"/>
          <p:cNvSpPr/>
          <p:nvPr/>
        </p:nvSpPr>
        <p:spPr>
          <a:xfrm>
            <a:off x="438912" y="1371600"/>
            <a:ext cx="8229600" cy="2743200"/>
          </a:xfrm>
          <a:prstGeom prst="roundRect">
            <a:avLst>
              <a:gd name="adj" fmla="val 20000"/>
            </a:avLst>
          </a:prstGeom>
          <a:solidFill>
            <a:srgbClr val="F7EBF2"/>
          </a:solidFill>
          <a:ln w="9525">
            <a:solidFill>
              <a:srgbClr val="D4A0BB"/>
            </a:solidFill>
          </a:ln>
        </p:spPr>
      </p:sp>
      <p:sp>
        <p:nvSpPr>
          <p:cNvPr id="6" name="BuiltContent"/>
          <p:cNvSpPr/>
          <p:nvPr/>
        </p:nvSpPr>
        <p:spPr>
          <a:xfrm>
            <a:off x="548640" y="1417320"/>
            <a:ext cx="800985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0174F"/>
                </a:solidFill>
                <a:latin typeface="Cambria" pitchFamily="34" charset="0"/>
              </a:rPr>
              <a:t>What We Built</a:t>
            </a:r>
          </a:p>
          <a:p>
            <a:pPr marL="342900" indent="-342900">
              <a:lnSpc>
                <a:spcPts val="2000"/>
              </a:lnSpc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</a:rPr>
              <a:t>A fully working C++ console application simulating a live streaming platform</a:t>
            </a:r>
          </a:p>
          <a:p>
            <a:pPr marL="342900" indent="-342900">
              <a:lnSpc>
                <a:spcPts val="2000"/>
              </a:lnSpc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</a:rPr>
              <a:t>8 independent DSA-powered modules, each solving a distinct real-world problem</a:t>
            </a:r>
          </a:p>
          <a:p>
            <a:pPr marL="342900" indent="-342900">
              <a:lnSpc>
                <a:spcPts val="2000"/>
              </a:lnSpc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</a:rPr>
              <a:t>Sample data preloaded (3 videos, 3 licenses, 4 platforms, 3 clips) for live demonstration</a:t>
            </a:r>
          </a:p>
          <a:p>
            <a:pPr marL="342900" indent="-342900">
              <a:lnSpc>
                <a:spcPts val="2000"/>
              </a:lnSpc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</a:rPr>
              <a:t>Every module directly maps to a problem stated in the problem statement</a:t>
            </a:r>
          </a:p>
          <a:p>
            <a:pPr marL="342900" indent="-342900">
              <a:lnSpc>
                <a:spcPts val="2000"/>
              </a:lnSpc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</a:rPr>
              <a:t>DSA choices are justified with real-world parallels (Netflix, Disney+, Amazon Prime)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0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530352"/>
            <a:ext cx="329184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ViewSync – Streaming Video Network Syndication Mesh</dc:title>
  <dc:subject>PptxGenJS Presentation</dc:subject>
  <dc:creator>PptxGenJS</dc:creator>
  <cp:lastModifiedBy>PptxGenJS</cp:lastModifiedBy>
  <cp:revision>1</cp:revision>
  <dcterms:created xsi:type="dcterms:W3CDTF">2026-06-18T20:02:00Z</dcterms:created>
  <dcterms:modified xsi:type="dcterms:W3CDTF">2026-06-18T20:02:00Z</dcterms:modified>
</cp:coreProperties>
</file>